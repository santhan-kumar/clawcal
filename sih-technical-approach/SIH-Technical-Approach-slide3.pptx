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9100" y="190500"/>
            <a:ext cx="1123950" cy="495300"/>
          </a:xfrm>
          <a:prstGeom prst="ellipse">
            <a:avLst/>
          </a:prstGeom>
          <a:noFill/>
          <a:ln w="15875">
            <a:solidFill>
              <a:srgbClr val="7C5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19100" y="190500"/>
            <a:ext cx="1123950" cy="495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rgbClr val="3F3350"/>
                </a:solidFill>
                <a:latin typeface="Arial"/>
                <a:ea typeface="Arial"/>
                <a:cs typeface="Arial"/>
              </a:rPr>
              <a:t>Dilijens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"/>
            <a:ext cx="12192000" cy="438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000" b="1" spc="12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25100" y="171450"/>
            <a:ext cx="1447800" cy="533400"/>
          </a:xfrm>
          <a:prstGeom prst="rect">
            <a:avLst/>
          </a:prstGeom>
          <a:noFill/>
          <a:ln w="9525">
            <a:solidFill>
              <a:srgbClr val="DDE0E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25100" y="171450"/>
            <a:ext cx="144780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00" b="0">
                <a:solidFill>
                  <a:srgbClr val="B9BEC3"/>
                </a:solidFill>
                <a:latin typeface="Consolas"/>
                <a:ea typeface="Consolas"/>
                <a:cs typeface="Consolas"/>
              </a:rPr>
              <a:t>paste SIH 2026 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781050"/>
            <a:ext cx="7620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 spc="100">
                <a:solidFill>
                  <a:srgbClr val="C00000"/>
                </a:solidFill>
                <a:latin typeface="Arial"/>
                <a:ea typeface="Arial"/>
                <a:cs typeface="Arial"/>
              </a:rPr>
              <a:t>WHAT SITS ON THE BOX, AND WHY IT FITS ON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97155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plant network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9100" y="1190625"/>
            <a:ext cx="16002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43150" y="971550"/>
            <a:ext cx="59055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workbench — one on-premise server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43150" y="1190625"/>
            <a:ext cx="77343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839200" y="1038225"/>
            <a:ext cx="76200" cy="76200"/>
          </a:xfrm>
          <a:prstGeom prst="rect">
            <a:avLst/>
          </a:prstGeom>
          <a:solidFill>
            <a:srgbClr val="A8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972550" y="981075"/>
            <a:ext cx="123825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B7076"/>
                </a:solidFill>
                <a:latin typeface="Arial"/>
                <a:ea typeface="Arial"/>
                <a:cs typeface="Arial"/>
              </a:rPr>
              <a:t>red is what we write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100" y="1676400"/>
            <a:ext cx="1600200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1" spc="90">
                <a:solidFill>
                  <a:srgbClr val="6B7076"/>
                </a:solidFill>
                <a:latin typeface="Arial"/>
                <a:ea typeface="Arial"/>
                <a:cs typeface="Arial"/>
              </a:rPr>
              <a:t>MANY CLIENTS, ONE 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9100" y="1828800"/>
            <a:ext cx="1600200" cy="285750"/>
          </a:xfrm>
          <a:prstGeom prst="rect">
            <a:avLst/>
          </a:prstGeom>
          <a:solidFill>
            <a:srgbClr val="F1F2F3"/>
          </a:solidFill>
          <a:ln w="9525">
            <a:solidFill>
              <a:srgbClr val="DD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monitor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895475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2950" y="1828800"/>
            <a:ext cx="12192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engineer’s desk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100" y="2181225"/>
            <a:ext cx="1600200" cy="285750"/>
          </a:xfrm>
          <a:prstGeom prst="rect">
            <a:avLst/>
          </a:prstGeom>
          <a:solidFill>
            <a:srgbClr val="F1F2F3"/>
          </a:solidFill>
          <a:ln w="9525">
            <a:solidFill>
              <a:srgbClr val="DD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tablet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247900"/>
            <a:ext cx="15240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42950" y="2181225"/>
            <a:ext cx="12192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inspector’s tablet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100" y="2533650"/>
            <a:ext cx="1600200" cy="285750"/>
          </a:xfrm>
          <a:prstGeom prst="rect">
            <a:avLst/>
          </a:prstGeom>
          <a:solidFill>
            <a:srgbClr val="F1F2F3"/>
          </a:solidFill>
          <a:ln w="9525">
            <a:solidFill>
              <a:srgbClr val="DD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clock-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600325"/>
            <a:ext cx="15240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2950" y="2533650"/>
            <a:ext cx="12192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 scheduled job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9100" y="2886075"/>
            <a:ext cx="1600200" cy="285750"/>
          </a:xfrm>
          <a:prstGeom prst="rect">
            <a:avLst/>
          </a:prstGeom>
          <a:solidFill>
            <a:srgbClr val="F1F2F3"/>
          </a:solidFill>
          <a:ln w="9525">
            <a:solidFill>
              <a:srgbClr val="DD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server-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2952750"/>
            <a:ext cx="15240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42950" y="2886075"/>
            <a:ext cx="121920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another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9100" y="3219450"/>
            <a:ext cx="16002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>
                <a:solidFill>
                  <a:srgbClr val="6B7076"/>
                </a:solidFill>
                <a:latin typeface="Consolas"/>
                <a:ea typeface="Consolas"/>
                <a:cs typeface="Consolas"/>
              </a:rPr>
              <a:t>browser · CLI · REST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47875" y="2514600"/>
            <a:ext cx="266700" cy="0"/>
          </a:xfrm>
          <a:prstGeom prst="line">
            <a:avLst/>
          </a:prstGeom>
          <a:ln w="13970">
            <a:solidFill>
              <a:srgbClr val="9AA1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343150" y="1276350"/>
            <a:ext cx="22098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457450" y="1381125"/>
            <a:ext cx="1981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spc="30">
                <a:solidFill>
                  <a:srgbClr val="1A1A1A"/>
                </a:solidFill>
                <a:latin typeface="Arial"/>
                <a:ea typeface="Arial"/>
                <a:cs typeface="Arial"/>
              </a:rPr>
              <a:t>AGENT LOOP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57450" y="1638300"/>
            <a:ext cx="361950" cy="190500"/>
          </a:xfrm>
          <a:prstGeom prst="rect">
            <a:avLst/>
          </a:prstGeom>
          <a:noFill/>
          <a:ln w="9525">
            <a:solidFill>
              <a:srgbClr val="C4C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457450" y="1638300"/>
            <a:ext cx="36195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19400" y="1638300"/>
            <a:ext cx="762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rgbClr val="6B707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95600" y="1638300"/>
            <a:ext cx="323850" cy="190500"/>
          </a:xfrm>
          <a:prstGeom prst="rect">
            <a:avLst/>
          </a:prstGeom>
          <a:noFill/>
          <a:ln w="9525">
            <a:solidFill>
              <a:srgbClr val="C4C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895600" y="1638300"/>
            <a:ext cx="32385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19450" y="1638300"/>
            <a:ext cx="7620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>
                <a:solidFill>
                  <a:srgbClr val="6B7076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5650" y="1638300"/>
            <a:ext cx="552450" cy="190500"/>
          </a:xfrm>
          <a:prstGeom prst="rect">
            <a:avLst/>
          </a:prstGeom>
          <a:noFill/>
          <a:ln w="9525">
            <a:solidFill>
              <a:srgbClr val="C4C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295650" y="1638300"/>
            <a:ext cx="552450" cy="190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2495550" y="1962150"/>
            <a:ext cx="1276350" cy="0"/>
          </a:xfrm>
          <a:prstGeom prst="line">
            <a:avLst/>
          </a:prstGeom>
          <a:ln w="12700">
            <a:solidFill>
              <a:srgbClr val="9AA1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857500" y="1885950"/>
            <a:ext cx="55245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857500" y="1885950"/>
            <a:ext cx="55245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rgbClr val="6B7076"/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57450" y="2286000"/>
            <a:ext cx="19812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>
                <a:solidFill>
                  <a:srgbClr val="6B7076"/>
                </a:solidFill>
                <a:latin typeface="Consolas"/>
                <a:ea typeface="Consolas"/>
                <a:cs typeface="Consolas"/>
              </a:rPr>
              <a:t>goose · MCP tools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43150" y="2781300"/>
            <a:ext cx="220980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C4C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457450" y="2876550"/>
            <a:ext cx="19812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spc="30">
                <a:solidFill>
                  <a:srgbClr val="1A1A1A"/>
                </a:solidFill>
                <a:latin typeface="Arial"/>
                <a:ea typeface="Arial"/>
                <a:cs typeface="Arial"/>
              </a:rPr>
              <a:t>SCHEDULER &amp; STATE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57450" y="3086100"/>
            <a:ext cx="19812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cron · long runs · replayable history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57450" y="3390900"/>
            <a:ext cx="19812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>
                <a:solidFill>
                  <a:srgbClr val="6B7076"/>
                </a:solidFill>
                <a:latin typeface="Consolas"/>
                <a:ea typeface="Consolas"/>
                <a:cs typeface="Consolas"/>
              </a:rPr>
              <a:t>Temporal · Postgres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552950" y="1962150"/>
            <a:ext cx="247650" cy="0"/>
          </a:xfrm>
          <a:prstGeom prst="line">
            <a:avLst/>
          </a:prstGeom>
          <a:ln w="13970">
            <a:solidFill>
              <a:srgbClr val="9AA1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29150" y="1962150"/>
            <a:ext cx="0" cy="1304925"/>
          </a:xfrm>
          <a:prstGeom prst="line">
            <a:avLst/>
          </a:prstGeom>
          <a:ln w="13970">
            <a:solidFill>
              <a:srgbClr val="9AA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29150" y="3267075"/>
            <a:ext cx="171450" cy="0"/>
          </a:xfrm>
          <a:prstGeom prst="line">
            <a:avLst/>
          </a:prstGeom>
          <a:ln w="13970">
            <a:solidFill>
              <a:srgbClr val="9AA1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4857750" y="1276350"/>
            <a:ext cx="1981200" cy="1371600"/>
          </a:xfrm>
          <a:prstGeom prst="rect">
            <a:avLst/>
          </a:prstGeom>
          <a:solidFill>
            <a:srgbClr val="A8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972050" y="1381125"/>
            <a:ext cx="17526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spc="3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APPROVAL GATE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72050" y="1562100"/>
            <a:ext cx="17526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F0D5D3"/>
                </a:solidFill>
                <a:latin typeface="Arial"/>
                <a:ea typeface="Arial"/>
                <a:cs typeface="Arial"/>
              </a:rPr>
              <a:t>+ provenance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972050" y="1781175"/>
            <a:ext cx="1752600" cy="0"/>
          </a:xfrm>
          <a:prstGeom prst="line">
            <a:avLst/>
          </a:prstGeom>
          <a:ln w="9525">
            <a:solidFill>
              <a:srgbClr val="CE7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972050" y="1876425"/>
            <a:ext cx="17526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Nothing acts or cites unchecked.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72050" y="2362200"/>
            <a:ext cx="17526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>
                <a:solidFill>
                  <a:srgbClr val="F0D5D3"/>
                </a:solidFill>
                <a:latin typeface="Consolas"/>
                <a:ea typeface="Consolas"/>
                <a:cs typeface="Consolas"/>
              </a:rPr>
              <a:t>we write it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57750" y="2781300"/>
            <a:ext cx="1981200" cy="971550"/>
          </a:xfrm>
          <a:prstGeom prst="rect">
            <a:avLst/>
          </a:prstGeom>
          <a:solidFill>
            <a:srgbClr val="A8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972050" y="2867025"/>
            <a:ext cx="17526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50" b="1" spc="30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ADMISSION ROUTER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72050" y="3067050"/>
            <a:ext cx="1752600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Residency-aware, over the LiteLLM gateway.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72050" y="3505200"/>
            <a:ext cx="17526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>
                <a:solidFill>
                  <a:srgbClr val="F0D5D3"/>
                </a:solidFill>
                <a:latin typeface="Consolas"/>
                <a:ea typeface="Consolas"/>
                <a:cs typeface="Consolas"/>
              </a:rPr>
              <a:t>we write it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838950" y="1962150"/>
            <a:ext cx="266700" cy="0"/>
          </a:xfrm>
          <a:prstGeom prst="line">
            <a:avLst/>
          </a:prstGeom>
          <a:ln w="13970">
            <a:solidFill>
              <a:srgbClr val="9AA1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38950" y="3267075"/>
            <a:ext cx="266700" cy="0"/>
          </a:xfrm>
          <a:prstGeom prst="line">
            <a:avLst/>
          </a:prstGeom>
          <a:ln w="13970">
            <a:solidFill>
              <a:srgbClr val="9AA1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143750" y="1276350"/>
            <a:ext cx="2933700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1" spc="90">
                <a:solidFill>
                  <a:srgbClr val="6B7076"/>
                </a:solidFill>
                <a:latin typeface="Arial"/>
                <a:ea typeface="Arial"/>
                <a:cs typeface="Arial"/>
              </a:rPr>
              <a:t>TOOL SURFACE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43750" y="1447800"/>
            <a:ext cx="1428750" cy="533400"/>
          </a:xfrm>
          <a:prstGeom prst="rect">
            <a:avLst/>
          </a:prstGeom>
          <a:solidFill>
            <a:srgbClr val="A8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4" name="Picture 63" descr="terminal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8525" y="1638300"/>
            <a:ext cx="152400" cy="1524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7467600" y="1447800"/>
            <a:ext cx="100965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sandbox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648700" y="1447800"/>
            <a:ext cx="1428750" cy="533400"/>
          </a:xfrm>
          <a:prstGeom prst="rect">
            <a:avLst/>
          </a:prstGeom>
          <a:solidFill>
            <a:srgbClr val="5C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7" name="Picture 66" descr="globe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3475" y="1638300"/>
            <a:ext cx="152400" cy="1524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972550" y="1447800"/>
            <a:ext cx="100965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headless browser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43750" y="2057400"/>
            <a:ext cx="1428750" cy="533400"/>
          </a:xfrm>
          <a:prstGeom prst="rect">
            <a:avLst/>
          </a:prstGeom>
          <a:solidFill>
            <a:srgbClr val="5C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0" name="Picture 69" descr="book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8525" y="2247900"/>
            <a:ext cx="152400" cy="15240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7467600" y="2057400"/>
            <a:ext cx="100965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plant knowledge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48700" y="2057400"/>
            <a:ext cx="1428750" cy="533400"/>
          </a:xfrm>
          <a:prstGeom prst="rect">
            <a:avLst/>
          </a:prstGeom>
          <a:solidFill>
            <a:srgbClr val="5C6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3" name="Picture 72" descr="doc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3475" y="2247900"/>
            <a:ext cx="152400" cy="15240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972550" y="2057400"/>
            <a:ext cx="1009650" cy="533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documents out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43750" y="2781300"/>
            <a:ext cx="2933700" cy="114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1" spc="90">
                <a:solidFill>
                  <a:srgbClr val="6B7076"/>
                </a:solidFill>
                <a:latin typeface="Arial"/>
                <a:ea typeface="Arial"/>
                <a:cs typeface="Arial"/>
              </a:rPr>
              <a:t>MODEL PLANE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43750" y="2952750"/>
            <a:ext cx="14287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4C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7239000" y="3038475"/>
            <a:ext cx="123825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FreeToken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39000" y="3209925"/>
            <a:ext cx="123825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4A4F55"/>
                </a:solidFill>
                <a:latin typeface="Arial"/>
                <a:ea typeface="Arial"/>
                <a:cs typeface="Arial"/>
              </a:rPr>
              <a:t>MoE generalist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39000" y="3429000"/>
            <a:ext cx="590550" cy="152400"/>
          </a:xfrm>
          <a:prstGeom prst="rect">
            <a:avLst/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239000" y="3429000"/>
            <a:ext cx="59055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00" b="0">
                <a:solidFill>
                  <a:srgbClr val="4A4F55"/>
                </a:solidFill>
                <a:latin typeface="Consolas"/>
                <a:ea typeface="Consolas"/>
                <a:cs typeface="Consolas"/>
              </a:rPr>
              <a:t>Apache-2.0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648700" y="2952750"/>
            <a:ext cx="14287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C4C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8743950" y="3038475"/>
            <a:ext cx="123825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vLLM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43950" y="3209925"/>
            <a:ext cx="123825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4A4F55"/>
                </a:solidFill>
                <a:latin typeface="Arial"/>
                <a:ea typeface="Arial"/>
                <a:cs typeface="Arial"/>
              </a:rPr>
              <a:t>small specialists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743950" y="3429000"/>
            <a:ext cx="590550" cy="152400"/>
          </a:xfrm>
          <a:prstGeom prst="rect">
            <a:avLst/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8743950" y="3429000"/>
            <a:ext cx="59055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00" b="0">
                <a:solidFill>
                  <a:srgbClr val="4A4F55"/>
                </a:solidFill>
                <a:latin typeface="Consolas"/>
                <a:ea typeface="Consolas"/>
                <a:cs typeface="Consolas"/>
              </a:rPr>
              <a:t>Apache-2.0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0077450" y="1962150"/>
            <a:ext cx="247650" cy="0"/>
          </a:xfrm>
          <a:prstGeom prst="line">
            <a:avLst/>
          </a:prstGeom>
          <a:ln w="13970">
            <a:solidFill>
              <a:srgbClr val="9AA1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382250" y="1905000"/>
            <a:ext cx="95250" cy="1143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10382250" y="1905000"/>
            <a:ext cx="95250" cy="1143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10515600" y="1276350"/>
            <a:ext cx="47625" cy="2476500"/>
          </a:xfrm>
          <a:prstGeom prst="rect">
            <a:avLst/>
          </a:prstGeom>
          <a:solidFill>
            <a:srgbClr val="A83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10668000" y="1962150"/>
            <a:ext cx="11049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 spc="70">
                <a:solidFill>
                  <a:srgbClr val="A8302B"/>
                </a:solidFill>
                <a:latin typeface="Arial"/>
                <a:ea typeface="Arial"/>
                <a:cs typeface="Arial"/>
              </a:rPr>
              <a:t>THE FENCE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668000" y="2171700"/>
            <a:ext cx="11049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>
                <a:solidFill>
                  <a:srgbClr val="4A4F55"/>
                </a:solidFill>
                <a:latin typeface="Consolas"/>
                <a:ea typeface="Consolas"/>
                <a:cs typeface="Consolas"/>
              </a:rPr>
              <a:t>default-DROP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668000" y="2305050"/>
            <a:ext cx="11049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0" b="0">
                <a:solidFill>
                  <a:srgbClr val="4A4F55"/>
                </a:solidFill>
                <a:latin typeface="Consolas"/>
                <a:ea typeface="Consolas"/>
                <a:cs typeface="Consolas"/>
              </a:rPr>
              <a:t>nftables · Tetragon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668000" y="2495550"/>
            <a:ext cx="1162050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Everything left of this line stays there. Nothing dials out — the kernel refuses.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9100" y="3829050"/>
            <a:ext cx="7620000" cy="171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inversion — nothing swaps, on either machine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419100" y="4048125"/>
            <a:ext cx="113538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419100" y="4133850"/>
            <a:ext cx="3676650" cy="990600"/>
          </a:xfrm>
          <a:prstGeom prst="rect">
            <a:avLst/>
          </a:prstGeom>
          <a:solidFill>
            <a:srgbClr val="F5F6F7"/>
          </a:solidFill>
          <a:ln w="9525">
            <a:solidFill>
              <a:srgbClr val="DDE0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533400" y="4238625"/>
            <a:ext cx="20955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9AA1A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2000" y="423862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1" spc="100">
                <a:solidFill>
                  <a:srgbClr val="6B7076"/>
                </a:solidFill>
                <a:latin typeface="Arial"/>
                <a:ea typeface="Arial"/>
                <a:cs typeface="Arial"/>
              </a:rPr>
              <a:t>THE OBVIOUS BUILD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33400" y="4438650"/>
            <a:ext cx="419100" cy="171450"/>
          </a:xfrm>
          <a:prstGeom prst="rect">
            <a:avLst/>
          </a:prstGeom>
          <a:noFill/>
          <a:ln w="9525">
            <a:solidFill>
              <a:srgbClr val="C4C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533400" y="4438650"/>
            <a:ext cx="419100" cy="1714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00" b="0">
                <a:solidFill>
                  <a:srgbClr val="6B7076"/>
                </a:solidFill>
                <a:latin typeface="Consolas"/>
                <a:ea typeface="Consolas"/>
                <a:cs typeface="Consolas"/>
              </a:rPr>
              <a:t>GPU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9650" y="443865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50" b="0">
                <a:solidFill>
                  <a:srgbClr val="6B7076"/>
                </a:solidFill>
                <a:latin typeface="Consolas"/>
                <a:ea typeface="Consolas"/>
                <a:cs typeface="Consolas"/>
              </a:rPr>
              <a:t>model A  ⇄  model B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3400" y="4705350"/>
            <a:ext cx="34480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B7076"/>
                </a:solidFill>
                <a:latin typeface="Arial"/>
                <a:ea typeface="Arial"/>
                <a:cs typeface="Arial"/>
              </a:rPr>
              <a:t>One model fits. The swap costs 30–100 s, every agent step.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257675" y="4133850"/>
            <a:ext cx="36766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4371975" y="4238625"/>
            <a:ext cx="20955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9AA1A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600575" y="4238625"/>
            <a:ext cx="20955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1" spc="100">
                <a:solidFill>
                  <a:srgbClr val="C00000"/>
                </a:solidFill>
                <a:latin typeface="Arial"/>
                <a:ea typeface="Arial"/>
                <a:cs typeface="Arial"/>
              </a:rPr>
              <a:t>OURS · DISCRETE CARD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371975" y="4438650"/>
            <a:ext cx="647700" cy="171450"/>
          </a:xfrm>
          <a:prstGeom prst="rect">
            <a:avLst/>
          </a:prstGeom>
          <a:noFill/>
          <a:ln w="9525">
            <a:solidFill>
              <a:srgbClr val="9AA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4371975" y="4438650"/>
            <a:ext cx="647700" cy="1714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HOST RAM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057775" y="4438650"/>
            <a:ext cx="533400" cy="1714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50" b="0">
                <a:solidFill>
                  <a:srgbClr val="6B7076"/>
                </a:solidFill>
                <a:latin typeface="Consolas"/>
                <a:ea typeface="Consolas"/>
                <a:cs typeface="Consolas"/>
              </a:rPr>
              <a:t>→ PCIe →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629275" y="4438650"/>
            <a:ext cx="914400" cy="171450"/>
          </a:xfrm>
          <a:prstGeom prst="rect">
            <a:avLst/>
          </a:prstGeom>
          <a:noFill/>
          <a:ln w="9525">
            <a:solidFill>
              <a:srgbClr val="9AA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5629275" y="4438650"/>
            <a:ext cx="914400" cy="1714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GPU · hot + KV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71975" y="4705350"/>
            <a:ext cx="34480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Experts stream across the bus. The transfer is the cost.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096250" y="4133850"/>
            <a:ext cx="36766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C4C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8210550" y="4238625"/>
            <a:ext cx="20955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0">
                <a:solidFill>
                  <a:srgbClr val="9AA1A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39150" y="4238625"/>
            <a:ext cx="20955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00" b="1" spc="100">
                <a:solidFill>
                  <a:srgbClr val="C00000"/>
                </a:solidFill>
                <a:latin typeface="Arial"/>
                <a:ea typeface="Arial"/>
                <a:cs typeface="Arial"/>
              </a:rPr>
              <a:t>OURS · UNIFIED MEMORY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210550" y="4438650"/>
            <a:ext cx="3448050" cy="171450"/>
          </a:xfrm>
          <a:prstGeom prst="rect">
            <a:avLst/>
          </a:prstGeom>
          <a:noFill/>
          <a:ln w="9525">
            <a:solidFill>
              <a:srgbClr val="9AA1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8210550" y="4438650"/>
            <a:ext cx="3448050" cy="1714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7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ONE POOL  ·  CPU + GPU  ·  KV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210550" y="4705350"/>
            <a:ext cx="34480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Arial"/>
                <a:cs typeface="Arial"/>
              </a:rPr>
              <a:t>No PCIe hop. Nothing to transfer — the pool is the ceiling.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19100" y="5219700"/>
            <a:ext cx="11353800" cy="438150"/>
          </a:xfrm>
          <a:prstGeom prst="rect">
            <a:avLst/>
          </a:prstGeom>
          <a:noFill/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419100" y="5219700"/>
            <a:ext cx="11353800" cy="438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250" b="1">
                <a:solidFill>
                  <a:srgbClr val="1A1A1A"/>
                </a:solidFill>
                <a:latin typeface="Arial"/>
                <a:ea typeface="Arial"/>
                <a:cs typeface="Arial"/>
              </a:rPr>
              <a:t>The scarce resource stops being VRAM. It becomes memory the GPU can reach, and how fast.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19100" y="5715000"/>
            <a:ext cx="11353800" cy="133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6B7076"/>
                </a:solidFill>
                <a:latin typeface="Arial"/>
                <a:ea typeface="Arial"/>
                <a:cs typeface="Arial"/>
              </a:rPr>
              <a:t>First run measures which of the two this machine is.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0" y="6172200"/>
            <a:ext cx="12192000" cy="361950"/>
          </a:xfrm>
          <a:prstGeom prst="rect">
            <a:avLst/>
          </a:prstGeom>
          <a:solidFill>
            <a:srgbClr val="1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0" y="6172200"/>
            <a:ext cx="12192000" cy="361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@SIH Idea submission- Template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1239500" y="6172200"/>
            <a:ext cx="533400" cy="361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